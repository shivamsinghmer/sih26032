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8860B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914400"/>
            <a:ext cx="10698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C2410C"/>
                </a:solidFill>
                <a:latin typeface="Calibri"/>
              </a:rPr>
              <a:t>«TEAM NAME»</a:t>
            </a:r>
          </a:p>
          <a:p>
            <a:pPr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Mandi Queue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8DA9C4"/>
                </a:solidFill>
                <a:latin typeface="Calibri"/>
              </a:rPr>
              <a:t>Capacity-aware slot booking and queue management for procurement centres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554480" cy="3200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5760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DA9C4"/>
                </a:solidFill>
                <a:latin typeface="Calibri"/>
              </a:rPr>
              <a:t>Problem Statement </a:t>
            </a:r>
            <a:r>
              <a:rPr sz="1500" b="1">
                <a:solidFill>
                  <a:srgbClr val="FFFFFF"/>
                </a:solidFill>
                <a:latin typeface="Calibri"/>
              </a:rPr>
              <a:t>26032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Farmers face long waiting times, lack of information on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procurement schedules, and uncertainty about status.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8DA9C4"/>
                </a:solidFill>
                <a:latin typeface="Calibri"/>
              </a:rPr>
              <a:t>Ministry of Consumer Affairs, Food &amp; Public Distribution</a:t>
            </a:r>
            <a:br/>
            <a:r>
              <a:rPr sz="1400" b="0" i="0">
                <a:solidFill>
                  <a:srgbClr val="8DA9C4"/>
                </a:solidFill>
                <a:latin typeface="Calibri"/>
              </a:rPr>
              <a:t>DoCA · Software · Smart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«Mentor name — designation»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474720"/>
            <a:ext cx="4617720" cy="251460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206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INSTITUTION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C2410C"/>
                </a:solidFill>
                <a:latin typeface="Calibri"/>
              </a:rPr>
              <a:t>«INSTITUTION NAME»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TEAM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1 — Department»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2 — Department»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3 — Department»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4 — Department»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5 — Department»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C2410C"/>
                </a:solidFill>
                <a:latin typeface="Calibri"/>
              </a:rPr>
              <a:t>«Member 6 — Department»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053328"/>
            <a:ext cx="10652760" cy="4572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05332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Backend already built and verified against a live database  ·  29/29 tests passing  ·  both demo loops 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2 · WHAT WE ARE ACTUALLY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Problem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903720" cy="1371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6446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IN OUR WORDS</a:t>
            </a:r>
          </a:p>
          <a:p>
            <a:pPr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farmer is given a date to sell his crop — but nobody checked whether the centre can physically accept it that day. So he travels, and then waits.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371600"/>
            <a:ext cx="1920240" cy="137160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48132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B2545"/>
                </a:solidFill>
                <a:latin typeface="Calibri"/>
              </a:rPr>
              <a:t>1.3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99339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farmers sell paddy at MSP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0072" y="1371600"/>
            <a:ext cx="1920240" cy="137160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65792" y="148132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B8860B"/>
                </a:solidFill>
                <a:latin typeface="Calibri"/>
              </a:rPr>
              <a:t>2–3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792" y="199339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typical wait, token in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4436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Existing systems already deliver the brief — and the farmer still waits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73552"/>
            <a:ext cx="2651760" cy="84124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364992"/>
            <a:ext cx="23957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MP e-Uparjan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books slots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3273552"/>
            <a:ext cx="2651760" cy="84124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3364992"/>
            <a:ext cx="23957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Punjab Anaaj Kharid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gate pass with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3273552"/>
            <a:ext cx="2651760" cy="84124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64992"/>
            <a:ext cx="23957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Haryana MFMB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SMS the 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34856" y="3273552"/>
            <a:ext cx="2651760" cy="84124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3364992"/>
            <a:ext cx="23957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Odisha P-PAS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acreage-linked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11091672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42816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GAP  ·  none of them schedules against what the centre can physically process that 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56048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56048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Evidence:  </a:t>
            </a:r>
            <a:r>
              <a:rPr sz="1400" b="0">
                <a:solidFill>
                  <a:srgbClr val="1A1A1A"/>
                </a:solidFill>
                <a:latin typeface="Calibri"/>
              </a:rPr>
              <a:t>one district had 12 of 42 centres fully operational with transport tenders uncleared.  In Bargarh, ~7,000 farmers' tokens were blocked because the permitted quantity sat below what they had grown.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3 · ONE LINE, THEN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Issue a slot only when the centre can physically honour it — and move the farmer before they travel when it cannot.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04288"/>
            <a:ext cx="2487168" cy="1417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441448"/>
            <a:ext cx="2194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8860B"/>
                </a:solidFill>
                <a:latin typeface="Calibri"/>
              </a:rPr>
              <a:t>1 · OFFICER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Five numbers, once a day: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bags · gangs · trucks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weighbridge hrs · 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834640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2304288"/>
            <a:ext cx="2487168" cy="1417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441448"/>
            <a:ext cx="2194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8860B"/>
                </a:solidFill>
                <a:latin typeface="Calibri"/>
              </a:rPr>
              <a:t>2 · ENGINE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Costs the day against four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resources, takes the minimum,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names what 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834640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304288"/>
            <a:ext cx="2487168" cy="1417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441448"/>
            <a:ext cx="2194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B8860B"/>
                </a:solidFill>
                <a:latin typeface="Calibri"/>
              </a:rPr>
              <a:t>3 · FARMER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Sees only days that can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absorb his quantity.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Others are simply absent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834640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2288" y="2304288"/>
            <a:ext cx="2487168" cy="1417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2441448"/>
            <a:ext cx="2194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 · IF IT DROPS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Overflow re-slotted and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SMS sent — while he is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still at 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All five asks of PS 26032 are delivered — the fifth is the one nobody has solved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61104"/>
            <a:ext cx="2121408" cy="7498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261104"/>
            <a:ext cx="1993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✓  Registration</a:t>
            </a:r>
            <a:br/>
            <a:r>
              <a:rPr sz="1400" b="1" i="0">
                <a:solidFill>
                  <a:srgbClr val="1A1A1A"/>
                </a:solidFill>
                <a:latin typeface="Calibri"/>
              </a:rPr>
              <a:t>+ booking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3492" y="4261104"/>
            <a:ext cx="2121408" cy="7498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0" y="4261104"/>
            <a:ext cx="1993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✓  Real-time</a:t>
            </a:r>
            <a:br/>
            <a:r>
              <a:rPr sz="1400" b="1" i="0">
                <a:solidFill>
                  <a:srgbClr val="1A1A1A"/>
                </a:solidFill>
                <a:latin typeface="Calibri"/>
              </a:rPr>
              <a:t>queue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8344" y="4261104"/>
            <a:ext cx="2121408" cy="7498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261104"/>
            <a:ext cx="1993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✓  SMS</a:t>
            </a:r>
            <a:br/>
            <a:r>
              <a:rPr sz="1400" b="1" i="0">
                <a:solidFill>
                  <a:srgbClr val="1A1A1A"/>
                </a:solidFill>
                <a:latin typeface="Calibri"/>
              </a:rPr>
              <a:t>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3196" y="4261104"/>
            <a:ext cx="2121408" cy="7498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7204" y="4261104"/>
            <a:ext cx="1993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✓  Payment</a:t>
            </a:r>
            <a:br/>
            <a:r>
              <a:rPr sz="1400" b="1" i="0">
                <a:solidFill>
                  <a:srgbClr val="1A1A1A"/>
                </a:solidFill>
                <a:latin typeface="Calibri"/>
              </a:rPr>
              <a:t>tracking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8048" y="4261104"/>
            <a:ext cx="2121408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2056" y="4261104"/>
            <a:ext cx="1993392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★  Reduce congestion</a:t>
            </a:r>
            <a:br/>
            <a:r>
              <a:rPr sz="1400" b="1" i="0">
                <a:solidFill>
                  <a:srgbClr val="FFFFFF"/>
                </a:solidFill>
                <a:latin typeface="Calibri"/>
              </a:rPr>
              <a:t>&amp; waiting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38928"/>
            <a:ext cx="11091672" cy="731520"/>
          </a:xfrm>
          <a:prstGeom prst="rect">
            <a:avLst/>
          </a:prstGeom>
          <a:solidFill>
            <a:srgbClr val="F7F0DD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38928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DIFFERENTIATOR: 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other four are table stakes that already ship in five states. The capacity engine is what makes the fifth real.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4 · HOW IT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148840" cy="109728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71600"/>
            <a:ext cx="202082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FARMER</a:t>
            </a:r>
            <a:br/>
            <a:r>
              <a:rPr sz="1400" b="1" i="0">
                <a:solidFill>
                  <a:srgbClr val="FFFFFF"/>
                </a:solidFill>
                <a:latin typeface="Calibri"/>
              </a:rPr>
              <a:t>PWA · SMS · IVR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755648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371600"/>
            <a:ext cx="2377440" cy="109728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371600"/>
            <a:ext cx="224942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apps/web</a:t>
            </a:r>
            <a:br/>
            <a:r>
              <a:rPr sz="1400" b="0" i="0">
                <a:solidFill>
                  <a:srgbClr val="1A1A1A"/>
                </a:solidFill>
                <a:latin typeface="Calibri"/>
              </a:rPr>
              <a:t>React 19 · Vite</a:t>
            </a:r>
            <a:br/>
            <a:r>
              <a:rPr sz="1400" b="0" i="0">
                <a:solidFill>
                  <a:srgbClr val="1A1A1A"/>
                </a:solidFill>
                <a:latin typeface="Calibri"/>
              </a:rPr>
              <a:t>→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1755648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371600"/>
            <a:ext cx="237744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1371600"/>
            <a:ext cx="224942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apps/api</a:t>
            </a:r>
            <a:br/>
            <a:r>
              <a:rPr sz="1400" b="1" i="0">
                <a:solidFill>
                  <a:srgbClr val="FFFFFF"/>
                </a:solidFill>
                <a:latin typeface="Calibri"/>
              </a:rPr>
              <a:t>Express 5 · Node 22</a:t>
            </a:r>
            <a:br/>
            <a:r>
              <a:rPr sz="1400" b="1" i="0">
                <a:solidFill>
                  <a:srgbClr val="FFFFFF"/>
                </a:solidFill>
                <a:latin typeface="Calibri"/>
              </a:rPr>
              <a:t>→ Railway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755648"/>
            <a:ext cx="274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8DA9C4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371600"/>
            <a:ext cx="3090672" cy="109728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371600"/>
            <a:ext cx="2962656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Prisma → Neon Postgres</a:t>
            </a:r>
            <a:br/>
            <a:r>
              <a:rPr sz="1400" b="0" i="0">
                <a:solidFill>
                  <a:srgbClr val="1A1A1A"/>
                </a:solidFill>
                <a:latin typeface="Calibri"/>
              </a:rPr>
              <a:t>Socket.IO live rooms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60320"/>
            <a:ext cx="11091672" cy="548640"/>
          </a:xfrm>
          <a:prstGeom prst="rect">
            <a:avLst/>
          </a:prstGeom>
          <a:solidFill>
            <a:srgbClr val="F7F0DD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60320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packages/shared — the capacity engine, imported by BOTH sides: live in the officer's browser as he types, and on the server as the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73552"/>
            <a:ext cx="6675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The maths, not a hand-wave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584448"/>
          <a:ext cx="6675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63440"/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Bardana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bags × 0.5 qtl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Labour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gangs × 350 qtl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Weighbridge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(bridges × hrs × 60 ÷ 12 min) × 40 qtl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Yard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capacity − backlog + trucks × 280 qtl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7452360" y="3584448"/>
            <a:ext cx="4187952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712464"/>
            <a:ext cx="3749039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DATA FLOW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5 officer inputs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↓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computeCapacity() → min, argmin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↓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allocate() → offered slots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↓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reslotOverflow() by seniority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↓</a:t>
            </a:r>
            <a:br/>
            <a:r>
              <a:rPr sz="1400" b="0" i="0">
                <a:solidFill>
                  <a:srgbClr val="FFFFFF"/>
                </a:solidFill>
                <a:latin typeface="Calibri"/>
              </a:rPr>
              <a:t>SMS + Socket.IO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15584"/>
            <a:ext cx="11091672" cy="56692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15584"/>
            <a:ext cx="106070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Security:  </a:t>
            </a:r>
            <a:r>
              <a:rPr sz="1400" b="0">
                <a:solidFill>
                  <a:srgbClr val="1A1A1A"/>
                </a:solidFill>
                <a:latin typeface="Calibri"/>
              </a:rPr>
              <a:t>identity comes from the session, never the request body · every React guard is cosmetic, the API re-checks · Aadhaar Secure QR verified offline against the UIDAI certificate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5 · HIGHEST-WEIGHTED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Innovation &amp;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55D66"/>
                </a:solidFill>
                <a:latin typeface="Calibri"/>
              </a:rPr>
              <a:t>One day at one centre, costed against all four resources. The shape of this chart is the diagnosis.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BARDANA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47672"/>
            <a:ext cx="5212080" cy="2926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4560" y="1947672"/>
            <a:ext cx="3160964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28676" y="1865376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2,250 qtl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78024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55D66"/>
                </a:solidFill>
                <a:latin typeface="Calibri"/>
              </a:rPr>
              <a:t>LABOUR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560320"/>
            <a:ext cx="5212080" cy="2926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4560" y="2560320"/>
            <a:ext cx="3933645" cy="292608"/>
          </a:xfrm>
          <a:prstGeom prst="rect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1357" y="2478024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2,800 qtl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55D66"/>
                </a:solidFill>
                <a:latin typeface="Calibri"/>
              </a:rPr>
              <a:t>WEIGHBRIDGE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172968"/>
            <a:ext cx="5212080" cy="2926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172968"/>
            <a:ext cx="5057543" cy="292608"/>
          </a:xfrm>
          <a:prstGeom prst="rect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25255" y="3090672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3,600 qtl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55D66"/>
                </a:solidFill>
                <a:latin typeface="Calibri"/>
              </a:rPr>
              <a:t>YARD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785616"/>
            <a:ext cx="5212080" cy="29260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4560" y="3785616"/>
            <a:ext cx="5212080" cy="292608"/>
          </a:xfrm>
          <a:prstGeom prst="rect">
            <a:avLst/>
          </a:prstGeom>
          <a:solidFill>
            <a:srgbClr val="8D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3703320"/>
            <a:ext cx="1371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3,710 qtl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52544"/>
            <a:ext cx="6858000" cy="47548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52544"/>
            <a:ext cx="6583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sellable = min(all four) = 2,250 qtl  ·  binding = BARDANA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865376"/>
            <a:ext cx="4005072" cy="329184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1993392"/>
            <a:ext cx="3611880" cy="3063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WHAT IS GENUINELY NEW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Constraint model, not a quota. </a:t>
            </a:r>
            <a:r>
              <a:rPr sz="1400" b="0">
                <a:solidFill>
                  <a:srgbClr val="1A1A1A"/>
                </a:solidFill>
                <a:latin typeface="Calibri"/>
              </a:rPr>
              <a:t>Four resources costed daily; the minimum is what may be sold.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The binding constraint is stored. </a:t>
            </a:r>
            <a:r>
              <a:rPr sz="1400" b="0">
                <a:solidFill>
                  <a:srgbClr val="1A1A1A"/>
                </a:solidFill>
                <a:latin typeface="Calibri"/>
              </a:rPr>
              <a:t>A season of rows answers which resource limits this district most — the tendering question.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Re-slot with preserved seniority. </a:t>
            </a:r>
            <a:r>
              <a:rPr sz="1400" b="0">
                <a:solidFill>
                  <a:srgbClr val="1A1A1A"/>
                </a:solidFill>
                <a:latin typeface="Calibri"/>
              </a:rPr>
              <a:t>Bumped once ≠ back of the queue. Others cancel; none re-schedules fairly.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Payment stage is derived. </a:t>
            </a:r>
            <a:r>
              <a:rPr sz="1400" b="0">
                <a:solidFill>
                  <a:srgbClr val="1A1A1A"/>
                </a:solidFill>
                <a:latin typeface="Calibri"/>
              </a:rPr>
              <a:t>Computed from timestamps, mapped to an accountable office — never typed 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38928"/>
            <a:ext cx="11091672" cy="932688"/>
          </a:xfrm>
          <a:prstGeom prst="rect">
            <a:avLst/>
          </a:prstGeom>
          <a:solidFill>
            <a:srgbClr val="F7F0DD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Why the chart matters:  </a:t>
            </a:r>
            <a:r>
              <a:rPr sz="1400" b="0">
                <a:solidFill>
                  <a:srgbClr val="1A1A1A"/>
                </a:solidFill>
                <a:latin typeface="Calibri"/>
              </a:rPr>
              <a:t>a single capacity number tells an officer what he cannot do. Naming the binding constraint tells him what to fix — and gives the farmer a reason he can act on. “Bardana shortage at the centre” is actionable; “slot unavailable” is not.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6 · CAN IT BE BUILT IN 36 HOURS?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55D66"/>
                </a:solidFill>
                <a:latin typeface="Calibri"/>
              </a:rPr>
              <a:t>Honestly: the hard half is already finished, tested and running.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92224"/>
            <a:ext cx="2697480" cy="102412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E6B3A"/>
                </a:solidFill>
                <a:latin typeface="Calibri"/>
              </a:rPr>
              <a:t>29/29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14016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unit tests passing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792224"/>
            <a:ext cx="2697480" cy="102412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90195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Calibr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414016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REST endpoints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792224"/>
            <a:ext cx="2697480" cy="102412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901952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14016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data models seeded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792224"/>
            <a:ext cx="2532888" cy="1024128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1901952"/>
            <a:ext cx="2441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B8860B"/>
                </a:solidFill>
                <a:latin typeface="Calibri"/>
              </a:rPr>
              <a:t>₹0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414016"/>
            <a:ext cx="2441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infra cost, free tiers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99232"/>
            <a:ext cx="5532120" cy="228600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51206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1E6B3A"/>
                </a:solidFill>
                <a:latin typeface="Calibri"/>
              </a:rPr>
              <a:t>DONE — before the finale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▪  Capacity engine, allocator, payment machine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▪  Full REST API — farmer, officer, admin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▪  Postgres schema, district of 45 farmers seeded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▪  Aadhaar Secure QR certificate validated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▪  Both demo loops verified on a live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999232"/>
            <a:ext cx="5376672" cy="2286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27248"/>
            <a:ext cx="493776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REMAINING — the 36 hours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▪  Three React panels (farmer, officer, admin)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▪  Socket.IO live queue + polling fallback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▪  PWA shell and offline gate pass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▪  Replay harness: quota vs capacity-aware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▪  Language toggle — templates already multi-locale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31536"/>
            <a:ext cx="11091672" cy="804672"/>
          </a:xfrm>
          <a:prstGeom prst="rect">
            <a:avLst/>
          </a:prstGeom>
          <a:solidFill>
            <a:srgbClr val="F7F0DD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31536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Scalability:  </a:t>
            </a:r>
            <a:r>
              <a:rPr sz="1400" b="0">
                <a:solidFill>
                  <a:srgbClr val="1A1A1A"/>
                </a:solidFill>
                <a:latin typeface="Calibri"/>
              </a:rPr>
              <a:t>stateless API behind a CDN; indexes chosen for the three queries the panels run. Known limit stated up front — Socket.IO rooms are in-process, so 1000× needs a Redis adapter. Identified now, not discovered in production.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7 · MEASURED, NOT ASSERTED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55D66"/>
                </a:solidFill>
                <a:latin typeface="Calibri"/>
              </a:rPr>
              <a:t>The problem statement's success criterion is measurable, so we built the system to measure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92224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754880"/>
                <a:gridCol w="3319272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we measure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a win looks like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Who gains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Wasted trips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Near zero — caught before travel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Farmer: fuel, cart, a lost day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Mean dwell time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Falls; the long tail falls further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Farmer + yard throughput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Slot honour rate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headline number — trust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Farmer confidence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Peak yard occupancy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Flatter, no overnight overflow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Officer, mandi safety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Payment SLA breaches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Named owner, not absorbed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District administration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672584"/>
            <a:ext cx="5532120" cy="13258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WHO BENEFITS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Small and marginal farmers most — a wasted trip is a larger share of their margin. Centre officers gain a defensible number. District offices gain accountability instead of complaints.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672584"/>
            <a:ext cx="5376672" cy="132588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80060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SDG ALIGNMENT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SDG 2 Zero Hunger · SDG 8 Decent Work · SDG 9 Infrastructure · SDG 12 Responsible Consumption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55D66"/>
                </a:solidFill>
                <a:latin typeface="Calibri"/>
              </a:rPr>
              <a:t>Less grain waiting in the open, less unpaid waiting time, better use of existing assets.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8 · WORKING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Prototype — verified, not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55D66"/>
                </a:solidFill>
                <a:latin typeface="Calibri"/>
              </a:rPr>
              <a:t>Every figure below came off a real run against a live Neon Postgres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22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DEMO A — the officer republishes tomorrow because the trucks did not arrive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128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B2545"/>
                </a:solidFill>
                <a:latin typeface="Calibri"/>
              </a:rPr>
              <a:t>2250→1750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sellable quintals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103120"/>
            <a:ext cx="2697480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2128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BARDANA→YARD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724912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binding constraint moved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103120"/>
            <a:ext cx="2697480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212848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B2545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724912"/>
            <a:ext cx="2606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re-slotted before travel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2103120"/>
            <a:ext cx="2532888" cy="960120"/>
          </a:xfrm>
          <a:prstGeom prst="rect">
            <a:avLst/>
          </a:prstGeom>
          <a:solidFill>
            <a:srgbClr val="F2F5F8"/>
          </a:solidFill>
          <a:ln w="12700">
            <a:solidFill>
              <a:srgbClr val="D2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212848"/>
            <a:ext cx="2441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E6B3A"/>
                </a:solidFill>
                <a:latin typeface="Calibri"/>
              </a:rPr>
              <a:t>protected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724912"/>
            <a:ext cx="24414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55D66"/>
                </a:solidFill>
                <a:latin typeface="Calibri"/>
              </a:rPr>
              <a:t>repeat-bumped farmer kept slot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00400"/>
            <a:ext cx="11091672" cy="10241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00984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THE SMS THE FARMER ACTUALLY RECEIVES — in his own language, naming the reason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ਸੰਗਰੂਰ ਵਿਖੇ ਪਿਛਲੀ ਲਿਫ਼ਟਿੰਗ ਨਾ ਹੋਣ ਕਰਕੇ ਵਿਹੜਾ ਭਰਿਆ ਹੋਇਆ ਹੈ। ਤੁਹਾਡਾ ਨਵਾਂ ਸਲਾਟ 13-09 ਨੂੰ 14:06 ਵਜੇ ਹੈ।</a:t>
            </a:r>
          </a:p>
          <a:p>
            <a:pPr>
              <a:spcAft>
                <a:spcPts val="0"/>
              </a:spcAft>
            </a:pPr>
            <a:r>
              <a:rPr sz="1400" b="0" i="1">
                <a:solidFill>
                  <a:srgbClr val="8DA9C4"/>
                </a:solidFill>
                <a:latin typeface="Calibri"/>
              </a:rPr>
              <a:t>“Unlifted stock is occupying the yard at Sangrur. Your new slot is 13-09 at 14:06. Please do not travel today.”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4389120"/>
          <a:ext cx="11091672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611112"/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Also verified end-to-end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Observed result</a:t>
                      </a:r>
                    </a:p>
                  </a:txBody>
                  <a:tcPr marL="109728" marR="73152" marT="27432" marB="27432" anchor="ctr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Moisture 20.4% vs the 17% FCI limit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Lot rejected, booking re-slotted, farmer told in the yard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Lot weighed and priced at season MSP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42 qtl × ₹2,300 = ₹96,600, integer paise throughout</a:t>
                      </a:r>
                    </a:p>
                  </a:txBody>
                  <a:tcPr marL="109728" marR="73152" marT="27432" marB="27432"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Payment chain recorded in sequence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Each stage named its accountable office; 72h clock live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SLIDE 9 · HOUR BY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36-Hour Plan for the Grand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33856"/>
            <a:ext cx="11064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555D66"/>
                </a:solidFill>
                <a:latin typeface="Calibri"/>
              </a:rPr>
              <a:t>The backend is done, so the whole window goes to interface, live demo and the measured comparison.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91056"/>
            <a:ext cx="118872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792224"/>
            <a:ext cx="894283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496312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6784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77256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8424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9368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8671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39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9144" y="1792224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55D66"/>
                </a:solidFill>
                <a:latin typeface="Calibri"/>
              </a:rPr>
              <a:t>H36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40312" y="2011680"/>
            <a:ext cx="10972" cy="3017520"/>
          </a:xfrm>
          <a:prstGeom prst="rect">
            <a:avLst/>
          </a:prstGeom>
          <a:solidFill>
            <a:srgbClr val="D2D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08483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Vite shell · auth · route guards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139696"/>
            <a:ext cx="993648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52344" y="2139696"/>
            <a:ext cx="88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«M1, M2»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51917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Farmer panel — book, queue, ETA, payments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91128" y="2574036"/>
            <a:ext cx="1987296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5992" y="2574036"/>
            <a:ext cx="18775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«M1, M3»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5351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Officer panel — capacity chart, queue 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78424" y="3008376"/>
            <a:ext cx="1490472" cy="274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33288" y="3008376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«M2, M4»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38785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Admin panel — KPIs, escalations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3442716"/>
            <a:ext cx="993648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442716"/>
            <a:ext cx="88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«M4»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82219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Socket.IO live + PWA offline shell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2544" y="3877056"/>
            <a:ext cx="993648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7408" y="3877056"/>
            <a:ext cx="88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«M3, M5»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653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Replay harness — quota vs capacity-aware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56191" y="4311396"/>
            <a:ext cx="993648" cy="2743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1055" y="4311396"/>
            <a:ext cx="88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«M5, M6»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690872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B2545"/>
                </a:solidFill>
                <a:latin typeface="Calibri"/>
              </a:rPr>
              <a:t>i18n · IVR script · deploy · rehearse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39" y="4745736"/>
            <a:ext cx="1490472" cy="2743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04703" y="4745736"/>
            <a:ext cx="138074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«All»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1184" y="518007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▲ H12 · MVP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8" y="518007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▲ H24 · polished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599" y="518007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▲ H30 · demo 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577840"/>
            <a:ext cx="11091672" cy="74980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577840"/>
            <a:ext cx="106070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8860B"/>
                </a:solidFill>
                <a:latin typeface="Calibri"/>
              </a:rPr>
              <a:t>Why this is credible:  </a:t>
            </a:r>
            <a:r>
              <a:rPr sz="1400" b="0">
                <a:solidFill>
                  <a:srgbClr val="FFFFFF"/>
                </a:solidFill>
                <a:latin typeface="Calibri"/>
              </a:rPr>
              <a:t>the risky half is already finished. Nothing in these 36 hours depends on an unsolved problem — it is interface work against an API that already answers.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3737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SIH 26032 · Mandi Queue · Ministry of Consumer Affairs, Food &amp; Public Distribution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37376"/>
            <a:ext cx="6675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DA9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